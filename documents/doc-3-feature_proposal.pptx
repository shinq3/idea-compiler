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会議サマリー自動化 機能提案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Must / Should / Could と依存関係・受入基準の整理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4920" y="86868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</a:rPr>
              <a:t>🎙️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743200" y="475488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8F0"/>
                </a:solidFill>
              </a:rPr>
              <a:t>音声入力 → 要約 → 統合 → 提案書生成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提案の全体像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MVPで押さえる価値と対象範囲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41148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002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D3748"/>
                </a:solidFill>
              </a:rPr>
              <a:t>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会議音声から要点を自動整理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決定事項と次アクションを即共有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複数回会議をRAGで統合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発足資料・提案書も自動生成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3429000" cy="4114800"/>
          </a:xfrm>
          <a:prstGeom prst="roundRect">
            <a:avLst>
              <a:gd name="adj" fmla="val 3200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1371600"/>
            <a:ext cx="54864" cy="411480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D3748"/>
                </a:solidFill>
              </a:rPr>
              <a:t>👥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09160" y="224028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会議参加者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プロジェクトマネージャー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PMO・ステークホルダー</a:t>
            </a:r>
            <a:endParaRPr lang="en-US" sz="16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ナレッジ管理担当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13716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92440" y="1371600"/>
            <a:ext cx="54864" cy="411480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D3748"/>
                </a:solidFill>
              </a:rPr>
              <a:t>🚫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366760" y="2240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Zoom/Teams連携は対象外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EC/チケット連携はPhase 2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承認WF・監査ログは除外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運用体制整備は別途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優先度サマリー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Must / Should / Could の配分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54864" cy="23774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3748"/>
                </a:solidFill>
              </a:rPr>
              <a:t>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E3E"/>
                </a:solidFill>
              </a:rPr>
              <a:t>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096"/>
                </a:solidFill>
              </a:rPr>
              <a:t>Must 機能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459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1645920"/>
            <a:ext cx="54864" cy="23774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783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3748"/>
                </a:solidFill>
              </a:rPr>
              <a:t>⚡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26280" y="2286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D8936"/>
                </a:solidFill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26280" y="2926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096"/>
                </a:solidFill>
              </a:rPr>
              <a:t>Should 機能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645920"/>
            <a:ext cx="54864" cy="23774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783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3748"/>
                </a:solidFill>
              </a:rPr>
              <a:t>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366760" y="2286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8BB78"/>
                </a:solidFill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096"/>
                </a:solidFill>
              </a:rPr>
              <a:t>Could 機能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-731520" y="45720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Must比率 50%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28800" y="4572000"/>
            <a:ext cx="8412480" cy="292608"/>
          </a:xfrm>
          <a:prstGeom prst="roundRect">
            <a:avLst>
              <a:gd name="adj" fmla="val 15625"/>
            </a:avLst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1828800" y="4572000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E53E3E"/>
          </a:solidFill>
          <a:ln/>
        </p:spPr>
      </p:sp>
      <p:sp>
        <p:nvSpPr>
          <p:cNvPr id="22" name="Text 20"/>
          <p:cNvSpPr/>
          <p:nvPr/>
        </p:nvSpPr>
        <p:spPr>
          <a:xfrm>
            <a:off x="10378440" y="45720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3E3E"/>
                </a:solidFill>
              </a:rPr>
              <a:t>50%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-731520" y="51663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Should比率 20%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828800" y="5166360"/>
            <a:ext cx="8412480" cy="292608"/>
          </a:xfrm>
          <a:prstGeom prst="roundRect">
            <a:avLst>
              <a:gd name="adj" fmla="val 15625"/>
            </a:avLst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828800" y="5166360"/>
            <a:ext cx="1682496" cy="292608"/>
          </a:xfrm>
          <a:prstGeom prst="roundRect">
            <a:avLst>
              <a:gd name="adj" fmla="val 15625"/>
            </a:avLst>
          </a:prstGeom>
          <a:solidFill>
            <a:srgbClr val="ED8936"/>
          </a:solidFill>
          <a:ln/>
        </p:spPr>
      </p:sp>
      <p:sp>
        <p:nvSpPr>
          <p:cNvPr id="26" name="Text 24"/>
          <p:cNvSpPr/>
          <p:nvPr/>
        </p:nvSpPr>
        <p:spPr>
          <a:xfrm>
            <a:off x="10378440" y="516636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8936"/>
                </a:solidFill>
              </a:rPr>
              <a:t>20%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-731520" y="57607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Could比率 30%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828800" y="5760720"/>
            <a:ext cx="8412480" cy="292608"/>
          </a:xfrm>
          <a:prstGeom prst="roundRect">
            <a:avLst>
              <a:gd name="adj" fmla="val 15625"/>
            </a:avLst>
          </a:prstGeom>
          <a:solidFill>
            <a:srgbClr val="E2E8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28800" y="5760720"/>
            <a:ext cx="2523744" cy="292608"/>
          </a:xfrm>
          <a:prstGeom prst="roundRect">
            <a:avLst>
              <a:gd name="adj" fmla="val 15625"/>
            </a:avLst>
          </a:prstGeom>
          <a:solidFill>
            <a:srgbClr val="48BB78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57607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8BB78"/>
                </a:solidFill>
              </a:rPr>
              <a:t>30%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Must 機能①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会議サマリー作成と発足資料生成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38912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54864" cy="43891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📝 音声入力による会議サマリー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要点・決定事項・論点・次アクションを自動生成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対象: 会議参加者・PM・迅速共有が必要なチーム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価値: 議事録作成負荷を大幅削減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349240" cy="438912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463040"/>
            <a:ext cx="54864" cy="438912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📚 プロジェクト発足時の資料作成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キックオフ資料と機能提案書を自動生成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対象: プロジェクトリード・ステークホルダー・PMO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価値: 立上げ時の資料準備を標準化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Must 機能②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RAG導入・統合・バックアップ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864" cy="402336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3748"/>
                </a:solidFill>
              </a:rPr>
              <a:t>🧠 RAG導入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複数会議の検索と文脈参照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統合要約の品質を安定化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対象: ナレッジ管理・分析担当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15968" y="16002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600200"/>
            <a:ext cx="54864" cy="40233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0" name="Text 8"/>
          <p:cNvSpPr/>
          <p:nvPr/>
        </p:nvSpPr>
        <p:spPr>
          <a:xfrm>
            <a:off x="4544568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3748"/>
                </a:solidFill>
              </a:rPr>
              <a:t>🔗 会議サマリー統合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90288" y="246888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3回以上の会議を一文書化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定例・フェーズ横断で活用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整合的な履歴管理を実現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38160" y="1600200"/>
            <a:ext cx="54864" cy="402336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1828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3748"/>
                </a:solidFill>
              </a:rPr>
              <a:t>💾 ローカル録音バックアップ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246888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音声取得失敗時のデータ保全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マイク本体へローカル保存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リスク: 音声キャプチャ失敗に対応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Should 機能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ライブ字幕と文字起こし方式の選択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17320"/>
            <a:ext cx="54864" cy="448056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💬 リアルタイムAPIによるライブ字幕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会議中に字幕を即時表示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対象: リモート参加者・聴覚障がい者・進行役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MVPは制御環境で精度90%以上を目標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417320"/>
            <a:ext cx="54864" cy="44805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37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⚖️ 文字起こし方法の選択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37744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Whisperアップロード方式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リアルタイムAPI方式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信頼性と即時性のトレードオフを選択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Could 機能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Phase 2候補と拡張オプション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54864" cy="402336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3748"/>
                </a:solidFill>
              </a:rPr>
              <a:t>🌐 外部連携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ECサイト・チケット購入サイト連携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第2フェーズで追加検討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事業開発向けの拡張枠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88536" y="164592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88536" y="1645920"/>
            <a:ext cx="54864" cy="40233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0" name="Text 8"/>
          <p:cNvSpPr/>
          <p:nvPr/>
        </p:nvSpPr>
        <p:spPr>
          <a:xfrm>
            <a:off x="4562856" y="1874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3748"/>
                </a:solidFill>
              </a:rPr>
              <a:t>📤 エクスポート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08576" y="251460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PDF / Docx / Markdown出力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共有・保管・監査対応を補助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文書担当の利便性を向上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74152" y="164592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74152" y="1645920"/>
            <a:ext cx="54864" cy="402336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4" name="Text 12"/>
          <p:cNvSpPr/>
          <p:nvPr/>
        </p:nvSpPr>
        <p:spPr>
          <a:xfrm>
            <a:off x="8348472" y="1874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3748"/>
                </a:solidFill>
              </a:rPr>
              <a:t>✏️ 編集・再生成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94192" y="251460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手動編集とAI再生成を両立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レビュー担当の修正効率を改善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要約品質の最終調整を支援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想定ユーザーフロー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録音から統合ドキュメント作成まで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560320"/>
            <a:ext cx="1463040" cy="9144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889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🎙️ 録音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0" y="2560320"/>
            <a:ext cx="1645920" cy="91440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7" name="Text 5"/>
          <p:cNvSpPr/>
          <p:nvPr/>
        </p:nvSpPr>
        <p:spPr>
          <a:xfrm>
            <a:off x="2880360" y="2788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🗣️ 文字起こし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92040" y="2560320"/>
            <a:ext cx="1645920" cy="914400"/>
          </a:xfrm>
          <a:prstGeom prst="ellipse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5074920" y="27889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📝 要約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40880" y="2560320"/>
            <a:ext cx="1645920" cy="914400"/>
          </a:xfrm>
          <a:prstGeom prst="ellipse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27889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🧠 RAG統合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89720" y="2560320"/>
            <a:ext cx="1737360" cy="914400"/>
          </a:xfrm>
          <a:prstGeom prst="ellipse">
            <a:avLst/>
          </a:prstGeom>
          <a:solidFill>
            <a:srgbClr val="E53E3E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0" y="27889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📄 出力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97480" y="38404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Whisper / RT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3840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要点・決定事項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03720" y="3840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複数回を一文書化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0" y="3840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資料・提案書・共有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依存関係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実装に必要な基盤と外部要素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依存項目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用途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状態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7E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Whisper文字起こし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アップロード方式の音声認識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前提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リアルタイム音声認識API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ライブ字幕・即時認識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コスト承認待ち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マイクのローカル保存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録音バックアップ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必須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RAG基盤/インデックス保存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複数会議統合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検討中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テンプレートライブラリ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キックオフ資料生成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必要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認証・セキュリティ基盤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利用制御と保護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必要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受け入れ基準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MVP判定の主要KPI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1分以内にサマリー生成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383280" y="16459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645920"/>
            <a:ext cx="6419088" cy="256032"/>
          </a:xfrm>
          <a:prstGeom prst="roundRect">
            <a:avLst>
              <a:gd name="adj" fmla="val 17857"/>
            </a:avLst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10652760" y="16459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67EEA"/>
                </a:solidFill>
              </a:rPr>
              <a:t>90%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テンプレート準拠の資料生成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23317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2E8F0"/>
          </a:solidFill>
          <a:ln/>
        </p:spPr>
      </p:sp>
      <p:sp>
        <p:nvSpPr>
          <p:cNvPr id="10" name="Shape 8"/>
          <p:cNvSpPr/>
          <p:nvPr/>
        </p:nvSpPr>
        <p:spPr>
          <a:xfrm>
            <a:off x="3383280" y="23317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48BB78"/>
          </a:solidFill>
          <a:ln/>
        </p:spPr>
      </p:sp>
      <p:sp>
        <p:nvSpPr>
          <p:cNvPr id="11" name="Text 9"/>
          <p:cNvSpPr/>
          <p:nvPr/>
        </p:nvSpPr>
        <p:spPr>
          <a:xfrm>
            <a:off x="10652760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8BB78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30175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全会議でローカル録音バックアップ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30175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30175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53E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652760" y="30175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3E3E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3回以上の会議統合で文脈保持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83280" y="37033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3383280" y="3703320"/>
            <a:ext cx="5349240" cy="256032"/>
          </a:xfrm>
          <a:prstGeom prst="roundRect">
            <a:avLst>
              <a:gd name="adj" fmla="val 17857"/>
            </a:avLst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10652760" y="37033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64BA2"/>
                </a:solidFill>
              </a:rPr>
              <a:t>75%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4389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</a:rPr>
              <a:t>ライブ字幕 精度90%以上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4389120"/>
            <a:ext cx="7132320" cy="256032"/>
          </a:xfrm>
          <a:prstGeom prst="roundRect">
            <a:avLst>
              <a:gd name="adj" fmla="val 17857"/>
            </a:avLst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4389120"/>
            <a:ext cx="6419088" cy="256032"/>
          </a:xfrm>
          <a:prstGeom prst="roundRect">
            <a:avLst>
              <a:gd name="adj" fmla="val 17857"/>
            </a:avLst>
          </a:prstGeom>
          <a:solidFill>
            <a:srgbClr val="ED8936"/>
          </a:solidFill>
          <a:ln/>
        </p:spPr>
      </p:sp>
      <p:sp>
        <p:nvSpPr>
          <p:cNvPr id="23" name="Text 21"/>
          <p:cNvSpPr/>
          <p:nvPr/>
        </p:nvSpPr>
        <p:spPr>
          <a:xfrm>
            <a:off x="1065276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8936"/>
                </a:solidFill>
              </a:rPr>
              <a:t>90%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2D3748"/>
                </a:solidFill>
              </a:rPr>
              <a:t>✅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748"/>
                </a:solidFill>
              </a:rPr>
              <a:t>品質ゲート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比較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文字起こし方式のトレードオフ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54864" cy="44805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📥 Whisperアップロード方式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44805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安定性を重視しやすい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会議後に処理する前提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コスト管理が比較的しやすい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即時字幕には不向き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554480"/>
            <a:ext cx="54864" cy="448056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748"/>
                </a:solidFill>
              </a:rPr>
              <a:t>⚡ リアルタイムAPI方式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468880"/>
            <a:ext cx="44805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会議中に字幕表示できる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即時共有・アクセシビリティ向上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継続コストの精査が必要</a:t>
            </a:r>
            <a:endParaRPr lang="en-US" sz="15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</a:rPr>
              <a:t>運用条件により精度差が出る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対象外スコープ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初期フェーズで実施しない内容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10241280" cy="4114800"/>
          </a:xfrm>
          <a:prstGeom prst="roundRect">
            <a:avLst>
              <a:gd name="adj" fmla="val 2667"/>
            </a:avLst>
          </a:prstGeom>
          <a:solidFill>
            <a:srgbClr val="F7FAFC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645920"/>
            <a:ext cx="54864" cy="411480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920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3748"/>
                </a:solidFill>
              </a:rPr>
              <a:t>🚧 除外項目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2560320"/>
            <a:ext cx="93268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</a:rPr>
              <a:t>Zoom / Teams 等との会議ツール連携</a:t>
            </a:r>
            <a:endParaRPr lang="en-US" sz="18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</a:rPr>
              <a:t>初期フェーズでのEC / チケットサイト連携</a:t>
            </a:r>
            <a:endParaRPr lang="en-US" sz="18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</a:rPr>
              <a:t>承認ワークフロー・権限管理・監査ログ</a:t>
            </a:r>
            <a:endParaRPr lang="en-US" sz="18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</a:rPr>
              <a:t>テンプレート詳細要件策定と運用体制整備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未解決項目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追加調査が必要な論点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3627120"/>
                <a:gridCol w="3627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論点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4BA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コスト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リアルタイムAPI継続コストの許容範囲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RAG基盤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保存先・検索インフラ要件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統合条件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出力粒度・期間指定の要件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言語対応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対応言語・専門用語辞書の必要性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中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テンプレート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既存資産の有無と形式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中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運用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承認/レビューの実務フロー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中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予算前提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ユーザー数・会議数・録音時間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成功指標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時間削減率・共有遅延削減率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推奨ロードマップ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</a:rPr>
              <a:t>MVPから拡張までの段階設計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828800" cy="9144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971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 MVP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8862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要約・資料生成・バックアップ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2743200"/>
            <a:ext cx="1828800" cy="914400"/>
          </a:xfrm>
          <a:prstGeom prst="ellipse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2971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 強化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0" y="3886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RAG統合・精度改善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40680" y="2743200"/>
            <a:ext cx="1828800" cy="914400"/>
          </a:xfrm>
          <a:prstGeom prst="ellipse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2971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 実証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1208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ライブ字幕の制御環境検証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2743200"/>
            <a:ext cx="1828800" cy="91440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2971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④ 拡張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380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</a:rPr>
              <a:t>編集・出力・外部連携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合意後に進める実務アクション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257800" y="8229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</a:rPr>
              <a:t>✅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1005840" y="1828800"/>
            <a:ext cx="10149840" cy="3566160"/>
          </a:xfrm>
          <a:prstGeom prst="roundRect">
            <a:avLst>
              <a:gd name="adj" fmla="val 307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463040" y="2377440"/>
            <a:ext cx="9144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1. Must機能のMVP範囲を確定</a:t>
            </a:r>
            <a:endParaRPr lang="en-US" sz="20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2. リアルタイムAPIの費用上限を判断</a:t>
            </a:r>
            <a:endParaRPr lang="en-US" sz="20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3. RAG基盤と保存先の方式を決定</a:t>
            </a:r>
            <a:endParaRPr lang="en-US" sz="20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4. テンプレート資産の収集と標準化</a:t>
            </a:r>
            <a:endParaRPr lang="en-US" sz="20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5. 成功指標とPoC評価方法を定義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Proposal</dc:title>
  <dc:subject>PptxGenJS Presentation</dc:subject>
  <dc:creator>PptxGenJS</dc:creator>
  <cp:lastModifiedBy>PptxGenJS</cp:lastModifiedBy>
  <cp:revision>1</cp:revision>
  <dcterms:created xsi:type="dcterms:W3CDTF">2026-03-09T03:20:28Z</dcterms:created>
  <dcterms:modified xsi:type="dcterms:W3CDTF">2026-03-09T03:20:28Z</dcterms:modified>
</cp:coreProperties>
</file>